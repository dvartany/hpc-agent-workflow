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B032113E-67B7-F14E-43B7-82735C8D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497" y="4404624"/>
            <a:ext cx="2787742" cy="21245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rtlCol="0" anchor="ctr"/>
          <a:lstStyle/>
          <a:p>
            <a:pPr algn="ctr"/>
            <a:endParaRPr lang="en-US" sz="1300" b="1" dirty="0">
              <a:solidFill>
                <a:srgbClr val="BBCCDD"/>
              </a:solidFill>
            </a:endParaRPr>
          </a:p>
        </p:txBody>
      </p:sp>
      <p:pic>
        <p:nvPicPr>
          <p:cNvPr id="3" name="Picture 2" descr="Screenshot 2026-06-09 at 1.55.11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4880"/>
            <a:ext cx="7132320" cy="3865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519360"/>
            <a:ext cx="7132320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>
                <a:solidFill>
                  <a:srgbClr val="3D5266"/>
                </a:solidFill>
              </a:defRPr>
            </a:pPr>
            <a:r>
              <a:rPr b="1" dirty="0"/>
              <a:t>Left panel: </a:t>
            </a:r>
            <a:r>
              <a:rPr dirty="0"/>
              <a:t>one-click pipeline buttons (Start Monitor → Pre-process → Submit → Analyze → Sync), phase indicators</a:t>
            </a:r>
            <a:r>
              <a:rPr lang="en-US" dirty="0"/>
              <a:t> for </a:t>
            </a:r>
            <a:r>
              <a:rPr dirty="0"/>
              <a:t>cluster, jobs, analysis modes. </a:t>
            </a:r>
            <a:endParaRPr lang="en-US" dirty="0"/>
          </a:p>
          <a:p>
            <a:pPr>
              <a:spcAft>
                <a:spcPts val="100"/>
              </a:spcAft>
              <a:defRPr sz="800">
                <a:solidFill>
                  <a:srgbClr val="3D5266"/>
                </a:solidFill>
              </a:defRPr>
            </a:pPr>
            <a:r>
              <a:rPr b="1" dirty="0"/>
              <a:t>Right panel</a:t>
            </a:r>
            <a:r>
              <a:rPr dirty="0"/>
              <a:t>: HPC connection settings, dynamic job </a:t>
            </a:r>
            <a:r>
              <a:rPr dirty="0" err="1"/>
              <a:t>scripts,compact</a:t>
            </a:r>
            <a:r>
              <a:rPr dirty="0"/>
              <a:t> status + run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731520"/>
            <a:ext cx="457200" cy="45720"/>
          </a:xfrm>
          <a:prstGeom prst="rect">
            <a:avLst/>
          </a:prstGeom>
          <a:solidFill>
            <a:srgbClr val="D9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804672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3D"/>
                </a:solidFill>
              </a:defRPr>
            </a:pPr>
            <a:r>
              <a:t>1.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060704"/>
            <a:ext cx="4297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2A3D"/>
                </a:solidFill>
              </a:defRPr>
            </a:pPr>
            <a:r>
              <a:rPr dirty="0"/>
              <a:t>HPC research today means juggling SSH terminals, </a:t>
            </a:r>
            <a:r>
              <a:rPr dirty="0" err="1"/>
              <a:t>sbatch</a:t>
            </a:r>
            <a:r>
              <a:rPr dirty="0"/>
              <a:t> scripts, and manual file</a:t>
            </a:r>
            <a:r>
              <a:rPr lang="en-US" dirty="0"/>
              <a:t> transfers 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635240" y="1545336"/>
            <a:ext cx="4297680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</a:t>
            </a:r>
            <a:r>
              <a:rPr lang="en-US" dirty="0"/>
              <a:t>Fragile and prone to human error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</a:t>
            </a:r>
            <a:r>
              <a:rPr lang="en-US" dirty="0"/>
              <a:t> •  </a:t>
            </a:r>
            <a:r>
              <a:rPr dirty="0"/>
              <a:t>Disconnected pre-process, submit, analysis, and sync steps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No unified status view → wasted compute hours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Goal: one repeatable workflow any lab member can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377440"/>
            <a:ext cx="457200" cy="45720"/>
          </a:xfrm>
          <a:prstGeom prst="rect">
            <a:avLst/>
          </a:prstGeom>
          <a:solidFill>
            <a:srgbClr val="1E9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2450592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3D"/>
                </a:solidFill>
              </a:defRPr>
            </a:pPr>
            <a:r>
              <a:t>2.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06624"/>
            <a:ext cx="429768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2A3D"/>
                </a:solidFill>
              </a:defRPr>
            </a:pPr>
            <a:r>
              <a:rPr dirty="0"/>
              <a:t>One dashboard runs the full pipeline</a:t>
            </a:r>
            <a:r>
              <a:rPr lang="en-US" dirty="0"/>
              <a:t> for every model</a:t>
            </a:r>
            <a:r>
              <a:rPr dirty="0"/>
              <a:t>: </a:t>
            </a:r>
            <a:endParaRPr lang="en-US" dirty="0"/>
          </a:p>
          <a:p>
            <a:pPr>
              <a:spcAft>
                <a:spcPts val="200"/>
              </a:spcAft>
              <a:defRPr sz="1200" b="1">
                <a:solidFill>
                  <a:srgbClr val="1B2A3D"/>
                </a:solidFill>
              </a:defRPr>
            </a:pPr>
            <a:r>
              <a:rPr dirty="0"/>
              <a:t>pre-process → submit → poll → analyze → sync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449888" y="3332736"/>
            <a:ext cx="4297680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</a:t>
            </a:r>
            <a:r>
              <a:rPr b="1" dirty="0"/>
              <a:t>Start Monitor </a:t>
            </a:r>
            <a:r>
              <a:rPr dirty="0"/>
              <a:t>iterates all job scripts in their own subdirectory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</a:t>
            </a:r>
            <a:r>
              <a:rPr b="1" dirty="0"/>
              <a:t> Phase indicators </a:t>
            </a:r>
            <a:r>
              <a:rPr dirty="0"/>
              <a:t>light up for each pipeline step in real time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</a:t>
            </a:r>
            <a:r>
              <a:rPr b="1" dirty="0"/>
              <a:t>•  Stop buttons </a:t>
            </a:r>
            <a:r>
              <a:rPr dirty="0"/>
              <a:t>cancel the </a:t>
            </a:r>
            <a:r>
              <a:rPr lang="en-US" dirty="0"/>
              <a:t>model </a:t>
            </a:r>
            <a:r>
              <a:rPr dirty="0"/>
              <a:t>job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Settings persist in </a:t>
            </a:r>
            <a:r>
              <a:rPr dirty="0" err="1"/>
              <a:t>config.toml</a:t>
            </a:r>
            <a:r>
              <a:rPr dirty="0"/>
              <a:t> — reproducible every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114800"/>
            <a:ext cx="457200" cy="45720"/>
          </a:xfrm>
          <a:prstGeom prst="rect">
            <a:avLst/>
          </a:prstGeom>
          <a:solidFill>
            <a:srgbClr val="E68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4187952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3D"/>
                </a:solidFill>
              </a:defRPr>
            </a:pPr>
            <a:r>
              <a:t>3. Key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4439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2A3D"/>
                </a:solidFill>
              </a:defRPr>
            </a:pPr>
            <a:r>
              <a:rPr dirty="0"/>
              <a:t>Multi-job HPC pipelines break in predictable ways without the right safeguards built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00421"/>
            <a:ext cx="4297680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Reproducibility — each script runs in its own remote workspace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Scalability —</a:t>
            </a:r>
            <a:r>
              <a:rPr lang="en-US" dirty="0"/>
              <a:t> </a:t>
            </a:r>
            <a:r>
              <a:rPr dirty="0"/>
              <a:t>job scripts  touching the workflow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Transparency — live logs so you never SSH blind again</a:t>
            </a:r>
          </a:p>
          <a:p>
            <a:pPr>
              <a:spcAft>
                <a:spcPts val="100"/>
              </a:spcAft>
              <a:defRPr sz="1150">
                <a:solidFill>
                  <a:srgbClr val="4A5A6A"/>
                </a:solidFill>
              </a:defRPr>
            </a:pPr>
            <a:r>
              <a:rPr dirty="0"/>
              <a:t>  •  Safety — cancel at the scheduler level, not just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1409" y="5622109"/>
            <a:ext cx="4297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2A3D"/>
                </a:solidFill>
              </a:defRPr>
            </a:pPr>
            <a:r>
              <a:rPr lang="en-US" dirty="0"/>
              <a:t>Waste less</a:t>
            </a:r>
            <a:r>
              <a:rPr dirty="0"/>
              <a:t> time babysitting jobs</a:t>
            </a:r>
            <a:r>
              <a:rPr lang="en-US" dirty="0"/>
              <a:t>:</a:t>
            </a:r>
          </a:p>
          <a:p>
            <a:pPr>
              <a:defRPr sz="1200" b="1">
                <a:solidFill>
                  <a:srgbClr val="1B2A3D"/>
                </a:solidFill>
              </a:defRPr>
            </a:pPr>
            <a:r>
              <a:rPr dirty="0"/>
              <a:t> more time on </a:t>
            </a:r>
            <a:r>
              <a:rPr lang="en-US" dirty="0"/>
              <a:t>interpreting results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000">
                <a:solidFill>
                  <a:srgbClr val="99AABB"/>
                </a:solidFill>
              </a:defRPr>
            </a:pPr>
            <a:r>
              <a:rPr dirty="0"/>
              <a:t>ASTRA — 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dvartany</a:t>
            </a:r>
            <a:r>
              <a:rPr dirty="0"/>
              <a:t>/</a:t>
            </a:r>
            <a:r>
              <a:rPr dirty="0" err="1"/>
              <a:t>hpc</a:t>
            </a:r>
            <a:r>
              <a:rPr dirty="0"/>
              <a:t>-agent-workflow     ·     Built with </a:t>
            </a:r>
            <a:r>
              <a:rPr dirty="0" err="1"/>
              <a:t>opencode</a:t>
            </a:r>
            <a:r>
              <a:rPr dirty="0"/>
              <a:t> agents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585059-3E74-0BA1-7AC7-B820A47BA439}"/>
              </a:ext>
            </a:extLst>
          </p:cNvPr>
          <p:cNvSpPr txBox="1"/>
          <p:nvPr/>
        </p:nvSpPr>
        <p:spPr>
          <a:xfrm>
            <a:off x="3931920" y="77264"/>
            <a:ext cx="6140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BBCCDD"/>
                </a:solidFill>
              </a:rPr>
              <a:t>Automated Scheduling &amp; Tracking for Research Applications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DFB4F-352A-3850-3AF1-525A176258EF}"/>
              </a:ext>
            </a:extLst>
          </p:cNvPr>
          <p:cNvSpPr txBox="1"/>
          <p:nvPr/>
        </p:nvSpPr>
        <p:spPr>
          <a:xfrm>
            <a:off x="1444212" y="-67918"/>
            <a:ext cx="36152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ACC"/>
                </a:solidFill>
              </a:rPr>
              <a:t>ASTRA:</a:t>
            </a:r>
            <a:endParaRPr lang="en-US" sz="3200" b="1" dirty="0">
              <a:solidFill>
                <a:srgbClr val="BBCCD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272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Vartanyan</cp:lastModifiedBy>
  <cp:revision>2</cp:revision>
  <dcterms:created xsi:type="dcterms:W3CDTF">2013-01-27T09:14:16Z</dcterms:created>
  <dcterms:modified xsi:type="dcterms:W3CDTF">2026-06-09T21:35:06Z</dcterms:modified>
  <cp:category/>
</cp:coreProperties>
</file>